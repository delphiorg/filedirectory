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rels" ContentType="application/vnd.openxmlformats-package.relationships+xml"/>
  <Default Extension="tiff" ContentType="image/tiff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sldIdLst>
    <p:sldId id="262" r:id="rId5"/>
    <p:sldId id="261" r:id="rId6"/>
    <p:sldId id="263" r:id="rId7"/>
    <p:sldId id="264" r:id="rId8"/>
    <p:sldId id="265" r:id="rId9"/>
    <p:sldId id="266" r:id="rId10"/>
    <p:sldId id="267" r:id="rId11"/>
    <p:sldId id="268" r:id="rId12"/>
    <p:sldId id="269" r:id="rId13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8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86"/>
    <p:restoredTop sz="96864" autoAdjust="0"/>
  </p:normalViewPr>
  <p:slideViewPr>
    <p:cSldViewPr snapToGrid="0">
      <p:cViewPr varScale="1">
        <p:scale>
          <a:sx n="179" d="100"/>
          <a:sy n="179" d="100"/>
        </p:scale>
        <p:origin x="200" y="456"/>
      </p:cViewPr>
      <p:guideLst>
        <p:guide orient="horz" pos="158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FC9D4C-EFD5-4E16-9FD5-B6297126F1AC}" type="datetimeFigureOut">
              <a:rPr lang="en-US" smtClean="0"/>
              <a:pPr/>
              <a:t>10/9/15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1E7B05-F66F-41CE-9A86-B93D755B0A6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219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1E7B05-F66F-41CE-9A86-B93D755B0A6C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8890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1E7B05-F66F-41CE-9A86-B93D755B0A6C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6950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1E7B05-F66F-41CE-9A86-B93D755B0A6C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6747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1E7B05-F66F-41CE-9A86-B93D755B0A6C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8288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1E7B05-F66F-41CE-9A86-B93D755B0A6C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713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1E7B05-F66F-41CE-9A86-B93D755B0A6C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734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1E7B05-F66F-41CE-9A86-B93D755B0A6C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1281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1E7B05-F66F-41CE-9A86-B93D755B0A6C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5338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1E7B05-F66F-41CE-9A86-B93D755B0A6C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2278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emplate_Slides_CodeRageX_16x9_Cover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7305" y="2638371"/>
            <a:ext cx="7879662" cy="1256543"/>
          </a:xfrm>
        </p:spPr>
        <p:txBody>
          <a:bodyPr anchor="b" anchorCtr="0">
            <a:noAutofit/>
          </a:bodyPr>
          <a:lstStyle>
            <a:lvl1pPr algn="ctr">
              <a:defRPr sz="2600" b="0" i="0">
                <a:solidFill>
                  <a:srgbClr val="FFFFFF"/>
                </a:solidFill>
                <a:latin typeface="Segoe"/>
                <a:cs typeface="Segoe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8779" y="3988660"/>
            <a:ext cx="7894227" cy="784097"/>
          </a:xfrm>
        </p:spPr>
        <p:txBody>
          <a:bodyPr>
            <a:noAutofit/>
          </a:bodyPr>
          <a:lstStyle>
            <a:lvl1pPr marL="0" indent="0" algn="ctr">
              <a:buNone/>
              <a:defRPr sz="2000" b="1" i="0" baseline="0">
                <a:solidFill>
                  <a:schemeClr val="bg1"/>
                </a:solidFill>
                <a:latin typeface="Segoe"/>
                <a:cs typeface="Segoe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047952" cy="857250"/>
          </a:xfrm>
        </p:spPr>
        <p:txBody>
          <a:bodyPr>
            <a:normAutofit/>
          </a:bodyPr>
          <a:lstStyle>
            <a:lvl1pPr>
              <a:defRPr sz="2000" b="1" i="0">
                <a:latin typeface="Segoe"/>
                <a:cs typeface="Segoe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88720"/>
            <a:ext cx="8047952" cy="335834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 smtClean="0"/>
            </a:lvl1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59008" y="4686622"/>
            <a:ext cx="777240" cy="23574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A4B9D86F-0E15-46C6-88AE-086E78885E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1597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194194" cy="857250"/>
          </a:xfrm>
        </p:spPr>
        <p:txBody>
          <a:bodyPr>
            <a:normAutofit/>
          </a:bodyPr>
          <a:lstStyle>
            <a:lvl1pPr>
              <a:defRPr sz="2000" b="1" i="0">
                <a:latin typeface="Segoe"/>
                <a:cs typeface="Segoe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88719"/>
            <a:ext cx="8194194" cy="3366655"/>
          </a:xfrm>
        </p:spPr>
        <p:txBody>
          <a:bodyPr>
            <a:normAutofit/>
          </a:bodyPr>
          <a:lstStyle>
            <a:lvl1pPr>
              <a:defRPr sz="1600" b="0" i="0">
                <a:latin typeface="Segoe"/>
                <a:cs typeface="Segoe"/>
              </a:defRPr>
            </a:lvl1pPr>
            <a:lvl2pPr>
              <a:defRPr sz="1600" b="0" i="0">
                <a:latin typeface="Segoe"/>
                <a:cs typeface="Segoe"/>
              </a:defRPr>
            </a:lvl2pPr>
            <a:lvl3pPr>
              <a:defRPr sz="1600" b="0" i="0">
                <a:latin typeface="Segoe"/>
                <a:cs typeface="Segoe"/>
              </a:defRPr>
            </a:lvl3pPr>
            <a:lvl4pPr>
              <a:defRPr sz="1600" b="0" i="0">
                <a:latin typeface="Segoe"/>
                <a:cs typeface="Segoe"/>
              </a:defRPr>
            </a:lvl4pPr>
            <a:lvl5pPr>
              <a:defRPr sz="1600" b="0" i="0">
                <a:latin typeface="Segoe"/>
                <a:cs typeface="Segoe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59008" y="4686622"/>
            <a:ext cx="777240" cy="23574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A4B9D86F-0E15-46C6-88AE-086E78885E3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88720"/>
            <a:ext cx="4007042" cy="3358342"/>
          </a:xfrm>
        </p:spPr>
        <p:txBody>
          <a:bodyPr>
            <a:normAutofit/>
          </a:bodyPr>
          <a:lstStyle>
            <a:lvl1pPr>
              <a:defRPr sz="1800" b="0" i="0">
                <a:latin typeface="Segoe"/>
                <a:cs typeface="Segoe"/>
              </a:defRPr>
            </a:lvl1pPr>
            <a:lvl2pPr>
              <a:defRPr sz="1800" b="0" i="0">
                <a:latin typeface="Segoe"/>
                <a:cs typeface="Segoe"/>
              </a:defRPr>
            </a:lvl2pPr>
            <a:lvl3pPr>
              <a:defRPr sz="1800" b="0" i="0">
                <a:latin typeface="Segoe"/>
                <a:cs typeface="Segoe"/>
              </a:defRPr>
            </a:lvl3pPr>
            <a:lvl4pPr>
              <a:defRPr sz="1800" b="0" i="0">
                <a:latin typeface="Segoe"/>
                <a:cs typeface="Segoe"/>
              </a:defRPr>
            </a:lvl4pPr>
            <a:lvl5pPr>
              <a:defRPr sz="1800" b="0" i="0">
                <a:latin typeface="Segoe"/>
                <a:cs typeface="Segoe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59008" y="4686622"/>
            <a:ext cx="777240" cy="23574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A4B9D86F-0E15-46C6-88AE-086E78885E3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155709" cy="857250"/>
          </a:xfrm>
        </p:spPr>
        <p:txBody>
          <a:bodyPr>
            <a:normAutofit/>
          </a:bodyPr>
          <a:lstStyle>
            <a:lvl1pPr>
              <a:defRPr sz="2000" b="1" i="0">
                <a:latin typeface="Segoe"/>
                <a:cs typeface="Segoe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" name="Content Placeholder 2"/>
          <p:cNvSpPr>
            <a:spLocks noGrp="1"/>
          </p:cNvSpPr>
          <p:nvPr>
            <p:ph sz="half" idx="13"/>
          </p:nvPr>
        </p:nvSpPr>
        <p:spPr>
          <a:xfrm>
            <a:off x="4610485" y="1188720"/>
            <a:ext cx="4002424" cy="3358342"/>
          </a:xfrm>
        </p:spPr>
        <p:txBody>
          <a:bodyPr>
            <a:normAutofit/>
          </a:bodyPr>
          <a:lstStyle>
            <a:lvl1pPr>
              <a:defRPr sz="1800" b="0" i="0">
                <a:latin typeface="Segoe"/>
                <a:cs typeface="Segoe"/>
              </a:defRPr>
            </a:lvl1pPr>
            <a:lvl2pPr>
              <a:defRPr sz="1800" b="0" i="0">
                <a:latin typeface="Segoe"/>
                <a:cs typeface="Segoe"/>
              </a:defRPr>
            </a:lvl2pPr>
            <a:lvl3pPr>
              <a:defRPr sz="1800" b="0" i="0">
                <a:latin typeface="Segoe"/>
                <a:cs typeface="Segoe"/>
              </a:defRPr>
            </a:lvl3pPr>
            <a:lvl4pPr>
              <a:defRPr sz="1800" b="0" i="0">
                <a:latin typeface="Segoe"/>
                <a:cs typeface="Segoe"/>
              </a:defRPr>
            </a:lvl4pPr>
            <a:lvl5pPr>
              <a:defRPr sz="1800" b="0" i="0">
                <a:latin typeface="Segoe"/>
                <a:cs typeface="Segoe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978" y="1188720"/>
            <a:ext cx="5891052" cy="3358342"/>
          </a:xfrm>
        </p:spPr>
        <p:txBody>
          <a:bodyPr>
            <a:normAutofit/>
          </a:bodyPr>
          <a:lstStyle>
            <a:lvl1pPr>
              <a:defRPr sz="1600" b="0" i="0">
                <a:latin typeface="Segoe"/>
                <a:cs typeface="Segoe"/>
              </a:defRPr>
            </a:lvl1pPr>
            <a:lvl2pPr>
              <a:defRPr sz="1600" b="0" i="0">
                <a:latin typeface="Segoe"/>
                <a:cs typeface="Segoe"/>
              </a:defRPr>
            </a:lvl2pPr>
            <a:lvl3pPr>
              <a:defRPr sz="1600" b="0" i="0">
                <a:latin typeface="Segoe"/>
                <a:cs typeface="Segoe"/>
              </a:defRPr>
            </a:lvl3pPr>
            <a:lvl4pPr>
              <a:defRPr sz="1600" b="0" i="0">
                <a:latin typeface="Segoe"/>
                <a:cs typeface="Segoe"/>
              </a:defRPr>
            </a:lvl4pPr>
            <a:lvl5pPr>
              <a:defRPr sz="1600" b="0" i="0">
                <a:latin typeface="Segoe"/>
                <a:cs typeface="Segoe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188720"/>
            <a:ext cx="2014726" cy="3358342"/>
          </a:xfrm>
        </p:spPr>
        <p:txBody>
          <a:bodyPr>
            <a:normAutofit/>
          </a:bodyPr>
          <a:lstStyle>
            <a:lvl1pPr marL="0" indent="0">
              <a:buNone/>
              <a:defRPr sz="1600" b="0" i="0">
                <a:latin typeface="Segoe"/>
                <a:cs typeface="Segoe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59008" y="4686622"/>
            <a:ext cx="777240" cy="23574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A4B9D86F-0E15-46C6-88AE-086E78885E3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101830" cy="857250"/>
          </a:xfrm>
        </p:spPr>
        <p:txBody>
          <a:bodyPr>
            <a:normAutofit/>
          </a:bodyPr>
          <a:lstStyle>
            <a:lvl1pPr>
              <a:defRPr sz="2000" b="1" i="0">
                <a:latin typeface="Segoe"/>
                <a:cs typeface="Segoe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62562" y="1188720"/>
            <a:ext cx="5702711" cy="335002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59008" y="4686622"/>
            <a:ext cx="777240" cy="23574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A4B9D86F-0E15-46C6-88AE-086E78885E3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148012" cy="857250"/>
          </a:xfrm>
        </p:spPr>
        <p:txBody>
          <a:bodyPr>
            <a:normAutofit/>
          </a:bodyPr>
          <a:lstStyle>
            <a:lvl1pPr>
              <a:defRPr sz="2000" b="1" i="0">
                <a:latin typeface="Segoe"/>
                <a:cs typeface="Segoe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0061" y="2545042"/>
            <a:ext cx="2155150" cy="1816195"/>
          </a:xfrm>
        </p:spPr>
        <p:txBody>
          <a:bodyPr>
            <a:normAutofit/>
          </a:bodyPr>
          <a:lstStyle>
            <a:lvl1pPr marL="0" indent="0">
              <a:buNone/>
              <a:defRPr sz="1600" b="0" i="0">
                <a:latin typeface="Segoe"/>
                <a:cs typeface="Segoe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8" Type="http://schemas.openxmlformats.org/officeDocument/2006/relationships/image" Target="../media/image1.png"/><Relationship Id="rId9" Type="http://schemas.openxmlformats.org/officeDocument/2006/relationships/image" Target="../media/image2.tiff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emplate_Slides_CodeRageX_16x9_Inside.png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Rectangle 3"/>
          <p:cNvSpPr/>
          <p:nvPr userDrawn="1"/>
        </p:nvSpPr>
        <p:spPr>
          <a:xfrm>
            <a:off x="0" y="0"/>
            <a:ext cx="9144000" cy="6320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199" y="182880"/>
            <a:ext cx="8229601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199" y="1188720"/>
            <a:ext cx="8232679" cy="33583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9008" y="4686622"/>
            <a:ext cx="777240" cy="235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A4B9D86F-0E15-46C6-88AE-086E78885E3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4916774" y="4616092"/>
            <a:ext cx="1840047" cy="48367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0" r:id="rId3"/>
    <p:sldLayoutId id="2147483652" r:id="rId4"/>
    <p:sldLayoutId id="2147483656" r:id="rId5"/>
    <p:sldLayoutId id="2147483657" r:id="rId6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000" b="1" i="0" kern="1200">
          <a:solidFill>
            <a:schemeClr val="tx1"/>
          </a:solidFill>
          <a:latin typeface="Segoe"/>
          <a:ea typeface="+mj-ea"/>
          <a:cs typeface="Segoe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b="0" i="0" kern="1200">
          <a:solidFill>
            <a:schemeClr val="tx1"/>
          </a:solidFill>
          <a:latin typeface="Segoe"/>
          <a:ea typeface="+mn-ea"/>
          <a:cs typeface="Segoe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b="0" i="0" kern="1200">
          <a:solidFill>
            <a:schemeClr val="tx1"/>
          </a:solidFill>
          <a:latin typeface="Segoe"/>
          <a:ea typeface="+mn-ea"/>
          <a:cs typeface="Segoe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b="0" i="0" kern="1200">
          <a:solidFill>
            <a:schemeClr val="tx1"/>
          </a:solidFill>
          <a:latin typeface="Segoe"/>
          <a:ea typeface="+mn-ea"/>
          <a:cs typeface="Segoe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b="0" i="0" kern="1200">
          <a:solidFill>
            <a:schemeClr val="tx1"/>
          </a:solidFill>
          <a:latin typeface="Segoe"/>
          <a:ea typeface="+mn-ea"/>
          <a:cs typeface="Segoe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600" b="0" i="0" kern="1200">
          <a:solidFill>
            <a:schemeClr val="tx1"/>
          </a:solidFill>
          <a:latin typeface="Segoe"/>
          <a:ea typeface="+mn-ea"/>
          <a:cs typeface="Segoe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delphi.org/?p=2053" TargetMode="External"/><Relationship Id="rId4" Type="http://schemas.openxmlformats.org/officeDocument/2006/relationships/hyperlink" Target="http://delphi.org/coderage/" TargetMode="External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docs.mongodb.org/manual/administration/indexes-creation/" TargetMode="External"/><Relationship Id="rId4" Type="http://schemas.openxmlformats.org/officeDocument/2006/relationships/hyperlink" Target="http://docs.mongodb.org/manual/tutorial/create-an-index/" TargetMode="External"/><Relationship Id="rId5" Type="http://schemas.openxmlformats.org/officeDocument/2006/relationships/hyperlink" Target="http://docs.mongodb.org/manual/tutorial/create-a-compound-index/" TargetMode="External"/><Relationship Id="rId6" Type="http://schemas.openxmlformats.org/officeDocument/2006/relationships/hyperlink" Target="http://docs.mongodb.org/manual/tutorial/list-indexes/" TargetMode="External"/><Relationship Id="rId7" Type="http://schemas.openxmlformats.org/officeDocument/2006/relationships/hyperlink" Target="http://docs.mongodb.org/manual/tutorial/remove-indexes/" TargetMode="External"/><Relationship Id="rId8" Type="http://schemas.openxmlformats.org/officeDocument/2006/relationships/hyperlink" Target="http://docs.mongodb.org/manual/reference/method/cursor.explain/" TargetMode="Externa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docs.mongodb.org/manual/reference/operator/query-geospatial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docs.mongodb.org/manual/aggregation/" TargetMode="External"/><Relationship Id="rId4" Type="http://schemas.openxmlformats.org/officeDocument/2006/relationships/hyperlink" Target="http://docs.mongodb.org/manual/reference/operator/aggregation/" TargetMode="Externa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tif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docs.mongodb.org/manual/tutorial/modify-documents/" TargetMode="External"/><Relationship Id="rId4" Type="http://schemas.openxmlformats.org/officeDocument/2006/relationships/hyperlink" Target="http://docs.mongodb.org/manual/reference/method/db.collection.update/" TargetMode="External"/><Relationship Id="rId5" Type="http://schemas.openxmlformats.org/officeDocument/2006/relationships/hyperlink" Target="http://docs.mongodb.org/manual/reference/operator/update/inc/" TargetMode="External"/><Relationship Id="rId6" Type="http://schemas.openxmlformats.org/officeDocument/2006/relationships/hyperlink" Target="http://docs.mongodb.org/manual/reference/operator/update/push/" TargetMode="External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mongodb.org/manual/" TargetMode="External"/><Relationship Id="rId4" Type="http://schemas.openxmlformats.org/officeDocument/2006/relationships/hyperlink" Target="http://embt.co/sprint-nosql-mongodb" TargetMode="External"/><Relationship Id="rId5" Type="http://schemas.openxmlformats.org/officeDocument/2006/relationships/hyperlink" Target="http://docwiki.embarcadero.com/RADStudio/Seattle/en/What%27s_New#Support_for_the_NoSQL_MongoDB_Database" TargetMode="External"/><Relationship Id="rId6" Type="http://schemas.openxmlformats.org/officeDocument/2006/relationships/hyperlink" Target="http://docwiki.embarcadero.com/RADStudio/Seattle/en/Connect_to_MongoDB_Database_(FireDAC)" TargetMode="External"/><Relationship Id="rId7" Type="http://schemas.openxmlformats.org/officeDocument/2006/relationships/hyperlink" Target="http://docwiki.embarcadero.com/CodeExamples/Seattle/en/FireDAC.MongoDB_Explore_Sample" TargetMode="External"/><Relationship Id="rId8" Type="http://schemas.openxmlformats.org/officeDocument/2006/relationships/hyperlink" Target="http://docwiki.embarcadero.com/Libraries/Seattle/en/FireDAC.Phys.MongoDBWrapper" TargetMode="External"/><Relationship Id="rId9" Type="http://schemas.openxmlformats.org/officeDocument/2006/relationships/hyperlink" Target="http://delphi.org/?p=2053" TargetMode="External"/><Relationship Id="rId10" Type="http://schemas.openxmlformats.org/officeDocument/2006/relationships/hyperlink" Target="http://delphi.org/coderage/" TargetMode="External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quality.embarcadero.com/" TargetMode="External"/><Relationship Id="rId4" Type="http://schemas.openxmlformats.org/officeDocument/2006/relationships/hyperlink" Target="https://forums.embarcadero.com/forum.jspa?forumID=502" TargetMode="External"/><Relationship Id="rId5" Type="http://schemas.openxmlformats.org/officeDocument/2006/relationships/hyperlink" Target="mailto:dmitry.arefiev@embarcadero.com" TargetMode="External"/><Relationship Id="rId6" Type="http://schemas.openxmlformats.org/officeDocument/2006/relationships/hyperlink" Target="mailto:jim.mckeeth@embarcadero.com" TargetMode="External"/><Relationship Id="rId7" Type="http://schemas.openxmlformats.org/officeDocument/2006/relationships/hyperlink" Target="http://delphi.org/?p=2053" TargetMode="External"/><Relationship Id="rId8" Type="http://schemas.openxmlformats.org/officeDocument/2006/relationships/hyperlink" Target="http://delphi.org/coderage/" TargetMode="External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Advanced </a:t>
            </a:r>
            <a:r>
              <a:rPr lang="en-US" dirty="0" err="1" smtClean="0"/>
              <a:t>MongoDB</a:t>
            </a:r>
            <a:r>
              <a:rPr lang="en-US" dirty="0" smtClean="0"/>
              <a:t> &amp; </a:t>
            </a:r>
            <a:r>
              <a:rPr lang="en-US" dirty="0" err="1" smtClean="0"/>
              <a:t>FireDAC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Jim McKeeth &amp; </a:t>
            </a:r>
            <a:r>
              <a:rPr lang="de-DE" dirty="0"/>
              <a:t>Dmitry </a:t>
            </a:r>
            <a:r>
              <a:rPr lang="de-DE" dirty="0" err="1"/>
              <a:t>Arefiev</a:t>
            </a:r>
            <a:r>
              <a:rPr lang="de-DE" dirty="0"/>
              <a:t> </a:t>
            </a:r>
            <a:endParaRPr lang="de-DE" dirty="0" smtClean="0"/>
          </a:p>
          <a:p>
            <a:r>
              <a:rPr lang="de-DE" dirty="0" err="1" smtClean="0"/>
              <a:t>Embarcadero</a:t>
            </a:r>
            <a:r>
              <a:rPr lang="de-DE" dirty="0" smtClean="0"/>
              <a:t> </a:t>
            </a:r>
            <a:r>
              <a:rPr lang="de-DE" dirty="0"/>
              <a:t>Technologies</a:t>
            </a:r>
          </a:p>
          <a:p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866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88720"/>
            <a:ext cx="3750469" cy="3358342"/>
          </a:xfrm>
        </p:spPr>
        <p:txBody>
          <a:bodyPr>
            <a:norm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dirty="0" smtClean="0"/>
              <a:t>Indexing</a:t>
            </a:r>
            <a:endParaRPr lang="en-US" dirty="0" smtClean="0"/>
          </a:p>
          <a:p>
            <a:pPr marL="285750" indent="-285750">
              <a:buFont typeface="Arial" charset="0"/>
              <a:buChar char="•"/>
            </a:pPr>
            <a:r>
              <a:rPr lang="en-US" dirty="0" smtClean="0"/>
              <a:t>Query </a:t>
            </a:r>
            <a:r>
              <a:rPr lang="en-US" dirty="0" smtClean="0"/>
              <a:t>Options</a:t>
            </a:r>
            <a:endParaRPr lang="en-US" dirty="0" smtClean="0"/>
          </a:p>
          <a:p>
            <a:pPr marL="285750" indent="-285750">
              <a:buFont typeface="Arial" charset="0"/>
              <a:buChar char="•"/>
            </a:pPr>
            <a:r>
              <a:rPr lang="en-US" dirty="0" smtClean="0"/>
              <a:t>Geospatial Queries</a:t>
            </a:r>
          </a:p>
          <a:p>
            <a:pPr marL="285750" indent="-285750">
              <a:buFont typeface="Arial" charset="0"/>
              <a:buChar char="•"/>
            </a:pPr>
            <a:r>
              <a:rPr lang="en-US" dirty="0"/>
              <a:t>Aggregation </a:t>
            </a:r>
            <a:r>
              <a:rPr lang="en-US" dirty="0" smtClean="0"/>
              <a:t>&amp; Pipelines</a:t>
            </a:r>
          </a:p>
          <a:p>
            <a:pPr marL="742950" lvl="1" indent="-285750">
              <a:buFont typeface="Arial" charset="0"/>
              <a:buChar char="•"/>
            </a:pPr>
            <a:r>
              <a:rPr lang="en-US" dirty="0" smtClean="0"/>
              <a:t>Redact</a:t>
            </a:r>
          </a:p>
          <a:p>
            <a:pPr marL="742950" lvl="1" indent="-285750">
              <a:buFont typeface="Arial" charset="0"/>
              <a:buChar char="•"/>
            </a:pPr>
            <a:r>
              <a:rPr lang="en-US" dirty="0" smtClean="0"/>
              <a:t>Projection</a:t>
            </a:r>
          </a:p>
          <a:p>
            <a:pPr marL="742950" lvl="1" indent="-285750">
              <a:buFont typeface="Arial" charset="0"/>
              <a:buChar char="•"/>
            </a:pPr>
            <a:r>
              <a:rPr lang="en-US" dirty="0" smtClean="0"/>
              <a:t>Grouping</a:t>
            </a:r>
            <a:endParaRPr lang="en-US" dirty="0"/>
          </a:p>
          <a:p>
            <a:pPr marL="285750" indent="-285750">
              <a:buFont typeface="Arial" charset="0"/>
              <a:buChar char="•"/>
            </a:pPr>
            <a:r>
              <a:rPr lang="en-US" dirty="0" smtClean="0"/>
              <a:t>Update Operations</a:t>
            </a:r>
          </a:p>
          <a:p>
            <a:pPr marL="285750" indent="-285750">
              <a:buFont typeface="Arial" charset="0"/>
              <a:buChar char="•"/>
            </a:pPr>
            <a:r>
              <a:rPr lang="en-US" dirty="0" smtClean="0"/>
              <a:t>Database Meta Information</a:t>
            </a:r>
          </a:p>
          <a:p>
            <a:pPr marL="285750" indent="-285750">
              <a:buFont typeface="Arial" charset="0"/>
              <a:buChar char="•"/>
            </a:pPr>
            <a:r>
              <a:rPr lang="en-US" dirty="0" smtClean="0"/>
              <a:t>Local SQL</a:t>
            </a:r>
          </a:p>
          <a:p>
            <a:pPr marL="285750" indent="-285750">
              <a:buFont typeface="Arial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D86F-0E15-46C6-88AE-086E78885E3D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Agenda </a:t>
            </a:r>
            <a:r>
              <a:rPr lang="en-US" sz="1600" dirty="0" smtClean="0"/>
              <a:t>– </a:t>
            </a:r>
            <a:r>
              <a:rPr lang="en-US" sz="1600" i="1" dirty="0" smtClean="0"/>
              <a:t>The Fun Stuff</a:t>
            </a:r>
            <a:endParaRPr lang="en-US" sz="1600" i="1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13"/>
          </p:nvPr>
        </p:nvSpPr>
        <p:spPr>
          <a:xfrm>
            <a:off x="3557588" y="1188720"/>
            <a:ext cx="850107" cy="3358342"/>
          </a:xfrm>
        </p:spPr>
        <p:txBody>
          <a:bodyPr>
            <a:normAutofit/>
          </a:bodyPr>
          <a:lstStyle/>
          <a:p>
            <a:pPr marL="0" indent="0" algn="r">
              <a:buNone/>
            </a:pPr>
            <a:r>
              <a:rPr lang="en-US" dirty="0" smtClean="0">
                <a:latin typeface="Consolas" charset="0"/>
                <a:ea typeface="Consolas" charset="0"/>
                <a:cs typeface="Consolas" charset="0"/>
              </a:rPr>
              <a:t>2:09</a:t>
            </a:r>
          </a:p>
          <a:p>
            <a:pPr marL="0" indent="0" algn="r">
              <a:buNone/>
            </a:pPr>
            <a:r>
              <a:rPr lang="en-US" dirty="0" smtClean="0">
                <a:latin typeface="Consolas" charset="0"/>
                <a:ea typeface="Consolas" charset="0"/>
                <a:cs typeface="Consolas" charset="0"/>
              </a:rPr>
              <a:t>10:26</a:t>
            </a:r>
          </a:p>
          <a:p>
            <a:pPr marL="0" indent="0" algn="r">
              <a:buNone/>
            </a:pPr>
            <a:r>
              <a:rPr lang="en-US" dirty="0" smtClean="0">
                <a:latin typeface="Consolas" charset="0"/>
                <a:ea typeface="Consolas" charset="0"/>
                <a:cs typeface="Consolas" charset="0"/>
              </a:rPr>
              <a:t>12:23</a:t>
            </a:r>
          </a:p>
          <a:p>
            <a:pPr marL="0" indent="0" algn="r">
              <a:buNone/>
            </a:pPr>
            <a:r>
              <a:rPr lang="en-US" dirty="0" smtClean="0">
                <a:latin typeface="Consolas" charset="0"/>
                <a:ea typeface="Consolas" charset="0"/>
                <a:cs typeface="Consolas" charset="0"/>
              </a:rPr>
              <a:t>19:29</a:t>
            </a:r>
          </a:p>
          <a:p>
            <a:pPr marL="0" indent="0" algn="r">
              <a:buNone/>
            </a:pPr>
            <a:endParaRPr lang="en-US" dirty="0">
              <a:latin typeface="Consolas" charset="0"/>
              <a:ea typeface="Consolas" charset="0"/>
              <a:cs typeface="Consolas" charset="0"/>
            </a:endParaRPr>
          </a:p>
          <a:p>
            <a:pPr marL="0" indent="0" algn="r">
              <a:buNone/>
            </a:pPr>
            <a:endParaRPr lang="en-US" dirty="0" smtClean="0">
              <a:latin typeface="Consolas" charset="0"/>
              <a:ea typeface="Consolas" charset="0"/>
              <a:cs typeface="Consolas" charset="0"/>
            </a:endParaRPr>
          </a:p>
          <a:p>
            <a:pPr marL="0" indent="0" algn="r">
              <a:buNone/>
            </a:pPr>
            <a:r>
              <a:rPr lang="is-IS" dirty="0" smtClean="0">
                <a:latin typeface="Consolas" charset="0"/>
                <a:ea typeface="Consolas" charset="0"/>
                <a:cs typeface="Consolas" charset="0"/>
              </a:rPr>
              <a:t> </a:t>
            </a:r>
          </a:p>
          <a:p>
            <a:pPr marL="0" indent="0" algn="r">
              <a:buNone/>
            </a:pPr>
            <a:r>
              <a:rPr lang="en-US" dirty="0" smtClean="0">
                <a:latin typeface="Consolas" charset="0"/>
                <a:ea typeface="Consolas" charset="0"/>
                <a:cs typeface="Consolas" charset="0"/>
              </a:rPr>
              <a:t>27:16</a:t>
            </a:r>
          </a:p>
          <a:p>
            <a:pPr marL="0" indent="0" algn="r">
              <a:buNone/>
            </a:pPr>
            <a:r>
              <a:rPr lang="en-US" dirty="0" smtClean="0">
                <a:latin typeface="Consolas" charset="0"/>
                <a:ea typeface="Consolas" charset="0"/>
                <a:cs typeface="Consolas" charset="0"/>
              </a:rPr>
              <a:t>31:31</a:t>
            </a:r>
          </a:p>
          <a:p>
            <a:pPr marL="0" indent="0" algn="r">
              <a:buNone/>
            </a:pPr>
            <a:r>
              <a:rPr lang="en-US" dirty="0" smtClean="0">
                <a:latin typeface="Consolas" charset="0"/>
                <a:ea typeface="Consolas" charset="0"/>
                <a:cs typeface="Consolas" charset="0"/>
              </a:rPr>
              <a:t>33:19</a:t>
            </a:r>
            <a:endParaRPr lang="en-US" dirty="0">
              <a:latin typeface="Consolas" charset="0"/>
              <a:ea typeface="Consolas" charset="0"/>
              <a:cs typeface="Consolas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4641" y="1188720"/>
            <a:ext cx="2100511" cy="18774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 smtClean="0"/>
              <a:t>Code Samples are </a:t>
            </a:r>
          </a:p>
          <a:p>
            <a:pPr algn="ctr"/>
            <a:r>
              <a:rPr lang="en-US" sz="2000" dirty="0" smtClean="0"/>
              <a:t>all Object Pascal</a:t>
            </a:r>
          </a:p>
          <a:p>
            <a:pPr algn="ctr"/>
            <a:r>
              <a:rPr lang="en-US" dirty="0" smtClean="0">
                <a:hlinkClick r:id="rId3"/>
              </a:rPr>
              <a:t>delphi.org</a:t>
            </a:r>
            <a:r>
              <a:rPr lang="en-US" dirty="0">
                <a:hlinkClick r:id="rId3"/>
              </a:rPr>
              <a:t>/?</a:t>
            </a:r>
            <a:r>
              <a:rPr lang="en-US" dirty="0" smtClean="0">
                <a:hlinkClick r:id="rId3"/>
              </a:rPr>
              <a:t>p=2053</a:t>
            </a:r>
            <a:r>
              <a:rPr lang="en-US" dirty="0" smtClean="0"/>
              <a:t> </a:t>
            </a:r>
          </a:p>
          <a:p>
            <a:pPr algn="ctr"/>
            <a:endParaRPr lang="en-US" sz="2000" dirty="0" smtClean="0"/>
          </a:p>
          <a:p>
            <a:pPr algn="ctr"/>
            <a:r>
              <a:rPr lang="en-US" sz="2000" dirty="0" smtClean="0"/>
              <a:t>Slides</a:t>
            </a:r>
            <a:endParaRPr lang="en-US" dirty="0" smtClean="0"/>
          </a:p>
          <a:p>
            <a:pPr algn="ctr"/>
            <a:r>
              <a:rPr lang="en-US" dirty="0" err="1" smtClean="0">
                <a:hlinkClick r:id="rId4"/>
              </a:rPr>
              <a:t>delphi.org</a:t>
            </a:r>
            <a:r>
              <a:rPr lang="en-US" dirty="0" smtClean="0">
                <a:hlinkClick r:id="rId4"/>
              </a:rPr>
              <a:t>/</a:t>
            </a:r>
            <a:r>
              <a:rPr lang="en-US" dirty="0" err="1" smtClean="0">
                <a:hlinkClick r:id="rId4"/>
              </a:rPr>
              <a:t>coderage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642013" y="3214747"/>
            <a:ext cx="16257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Segoe" charset="0"/>
                <a:ea typeface="Segoe" charset="0"/>
                <a:cs typeface="Segoe" charset="0"/>
              </a:rPr>
              <a:t>Q&amp;A at </a:t>
            </a:r>
            <a:r>
              <a:rPr lang="en-US" dirty="0" smtClean="0">
                <a:latin typeface="Consolas" charset="0"/>
                <a:ea typeface="Consolas" charset="0"/>
                <a:cs typeface="Consolas" charset="0"/>
              </a:rPr>
              <a:t>39:03</a:t>
            </a:r>
            <a:endParaRPr lang="en-US" dirty="0">
              <a:latin typeface="Consolas" charset="0"/>
              <a:ea typeface="Consolas" charset="0"/>
              <a:cs typeface="Consola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7109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Indexing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_id is indexed by default as _id_</a:t>
            </a:r>
          </a:p>
          <a:p>
            <a:r>
              <a:rPr lang="en-US" dirty="0" smtClean="0"/>
              <a:t>Other indexes can be added to improve query performance</a:t>
            </a:r>
          </a:p>
          <a:p>
            <a:r>
              <a:rPr lang="en-US" dirty="0" err="1" smtClean="0"/>
              <a:t>MongoDB</a:t>
            </a:r>
            <a:r>
              <a:rPr lang="en-US" dirty="0" smtClean="0"/>
              <a:t> uses a B-Tree internally for indexing</a:t>
            </a:r>
          </a:p>
          <a:p>
            <a:r>
              <a:rPr lang="en-US" dirty="0" smtClean="0"/>
              <a:t>Use the Query Option to get an </a:t>
            </a:r>
            <a:r>
              <a:rPr lang="en-US" i="1" dirty="0" smtClean="0"/>
              <a:t>Explain </a:t>
            </a:r>
            <a:r>
              <a:rPr lang="en-US" dirty="0" smtClean="0"/>
              <a:t>Plan</a:t>
            </a:r>
          </a:p>
          <a:p>
            <a:r>
              <a:rPr lang="en-US" dirty="0" smtClean="0"/>
              <a:t>Docs</a:t>
            </a:r>
          </a:p>
          <a:p>
            <a:pPr marL="571500"/>
            <a:r>
              <a:rPr lang="en-US" sz="1400" dirty="0" smtClean="0">
                <a:hlinkClick r:id="rId3"/>
              </a:rPr>
              <a:t>http</a:t>
            </a:r>
            <a:r>
              <a:rPr lang="en-US" sz="1400" dirty="0">
                <a:hlinkClick r:id="rId3"/>
              </a:rPr>
              <a:t>://docs.mongodb.org/manual/administration/indexes-creation/</a:t>
            </a:r>
            <a:endParaRPr lang="en-US" sz="1400" dirty="0"/>
          </a:p>
          <a:p>
            <a:pPr marL="571500"/>
            <a:r>
              <a:rPr lang="en-US" sz="1400" dirty="0" smtClean="0">
                <a:hlinkClick r:id="rId4"/>
              </a:rPr>
              <a:t>http</a:t>
            </a:r>
            <a:r>
              <a:rPr lang="en-US" sz="1400" dirty="0">
                <a:hlinkClick r:id="rId4"/>
              </a:rPr>
              <a:t>://docs.mongodb.org/manual/tutorial/create-an-index</a:t>
            </a:r>
            <a:r>
              <a:rPr lang="en-US" sz="1400" dirty="0" smtClean="0">
                <a:hlinkClick r:id="rId4"/>
              </a:rPr>
              <a:t>/</a:t>
            </a:r>
            <a:r>
              <a:rPr lang="en-US" sz="1400" dirty="0" smtClean="0"/>
              <a:t> </a:t>
            </a:r>
          </a:p>
          <a:p>
            <a:pPr marL="571500"/>
            <a:r>
              <a:rPr lang="en-US" sz="1400" dirty="0">
                <a:hlinkClick r:id="rId5"/>
              </a:rPr>
              <a:t>http://docs.mongodb.org/manual/tutorial/create-a-compound-index</a:t>
            </a:r>
            <a:r>
              <a:rPr lang="en-US" sz="1400" dirty="0" smtClean="0">
                <a:hlinkClick r:id="rId5"/>
              </a:rPr>
              <a:t>/</a:t>
            </a:r>
            <a:endParaRPr lang="en-US" sz="1400" dirty="0" smtClean="0"/>
          </a:p>
          <a:p>
            <a:pPr marL="571500"/>
            <a:r>
              <a:rPr lang="en-US" sz="1400" dirty="0">
                <a:hlinkClick r:id="rId6"/>
              </a:rPr>
              <a:t>http://docs.mongodb.org/manual/tutorial/list-indexes</a:t>
            </a:r>
            <a:r>
              <a:rPr lang="en-US" sz="1400" dirty="0" smtClean="0">
                <a:hlinkClick r:id="rId6"/>
              </a:rPr>
              <a:t>/</a:t>
            </a:r>
            <a:endParaRPr lang="en-US" sz="1400" dirty="0" smtClean="0"/>
          </a:p>
          <a:p>
            <a:pPr marL="571500"/>
            <a:r>
              <a:rPr lang="en-US" sz="1400" dirty="0">
                <a:hlinkClick r:id="rId7"/>
              </a:rPr>
              <a:t>http://docs.mongodb.org/manual/tutorial/remove-indexes</a:t>
            </a:r>
            <a:r>
              <a:rPr lang="en-US" sz="1400" dirty="0" smtClean="0">
                <a:hlinkClick r:id="rId7"/>
              </a:rPr>
              <a:t>/</a:t>
            </a:r>
            <a:endParaRPr lang="en-US" sz="1400" dirty="0" smtClean="0"/>
          </a:p>
          <a:p>
            <a:pPr marL="571500"/>
            <a:r>
              <a:rPr lang="en-US" sz="1400" dirty="0">
                <a:hlinkClick r:id="rId8"/>
              </a:rPr>
              <a:t>http://docs.mongodb.org/manual/reference/method/cursor.explain</a:t>
            </a:r>
            <a:r>
              <a:rPr lang="en-US" sz="1400" smtClean="0">
                <a:hlinkClick r:id="rId8"/>
              </a:rPr>
              <a:t>/</a:t>
            </a:r>
            <a:r>
              <a:rPr lang="en-US" sz="1400" smtClean="0"/>
              <a:t> </a:t>
            </a:r>
            <a:endParaRPr lang="en-US" sz="1400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D86F-0E15-46C6-88AE-086E78885E3D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130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Geospatial Indexes and Queries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Supports both spherical and planar geometries</a:t>
            </a:r>
          </a:p>
          <a:p>
            <a:pPr lvl="1"/>
            <a:r>
              <a:rPr lang="en-US" dirty="0" smtClean="0"/>
              <a:t>2d: geometries on a plane</a:t>
            </a:r>
          </a:p>
          <a:p>
            <a:pPr lvl="1"/>
            <a:r>
              <a:rPr lang="en-US" dirty="0" smtClean="0"/>
              <a:t>2dsphere: geometries of an earth-like sphere</a:t>
            </a:r>
          </a:p>
          <a:p>
            <a:r>
              <a:rPr lang="en-US" dirty="0" smtClean="0"/>
              <a:t>Query operations</a:t>
            </a:r>
          </a:p>
          <a:p>
            <a:pPr lvl="1"/>
            <a:r>
              <a:rPr lang="en-US" dirty="0" smtClean="0"/>
              <a:t>Within a bounding geometry</a:t>
            </a:r>
          </a:p>
          <a:p>
            <a:pPr lvl="1"/>
            <a:r>
              <a:rPr lang="en-US" dirty="0" smtClean="0"/>
              <a:t>Intersecting geometry</a:t>
            </a:r>
          </a:p>
          <a:p>
            <a:pPr lvl="1"/>
            <a:r>
              <a:rPr lang="en-US" dirty="0" smtClean="0"/>
              <a:t>Near a point</a:t>
            </a:r>
          </a:p>
          <a:p>
            <a:r>
              <a:rPr lang="en-US" dirty="0" smtClean="0"/>
              <a:t>More information</a:t>
            </a:r>
          </a:p>
          <a:p>
            <a:pPr lvl="1"/>
            <a:r>
              <a:rPr lang="en-US" dirty="0">
                <a:hlinkClick r:id="rId3"/>
              </a:rPr>
              <a:t>http://docs.mongodb.org/manual/applications/geospatial-indexes/</a:t>
            </a:r>
          </a:p>
          <a:p>
            <a:pPr lvl="1"/>
            <a:r>
              <a:rPr lang="en-US" dirty="0" smtClean="0">
                <a:hlinkClick r:id="rId3"/>
              </a:rPr>
              <a:t>http</a:t>
            </a:r>
            <a:r>
              <a:rPr lang="en-US" dirty="0">
                <a:hlinkClick r:id="rId3"/>
              </a:rPr>
              <a:t>://docs.mongodb.org/manual/reference/operator/query-geospatial</a:t>
            </a:r>
            <a:r>
              <a:rPr lang="en-US" dirty="0" smtClean="0">
                <a:hlinkClick r:id="rId3"/>
              </a:rPr>
              <a:t>/</a:t>
            </a:r>
            <a:endParaRPr lang="en-US" dirty="0" smtClean="0"/>
          </a:p>
          <a:p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D86F-0E15-46C6-88AE-086E78885E3D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054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Aggregation Pipeline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Operations that process data along a series of steps</a:t>
            </a:r>
          </a:p>
          <a:p>
            <a:r>
              <a:rPr lang="en-US" dirty="0" smtClean="0"/>
              <a:t>Change the format of or further process documents resulting from a query</a:t>
            </a:r>
          </a:p>
          <a:p>
            <a:r>
              <a:rPr lang="en-US" dirty="0" smtClean="0"/>
              <a:t>Documents enter the pipeline and are transformed into an aggregated result</a:t>
            </a:r>
          </a:p>
          <a:p>
            <a:r>
              <a:rPr lang="en-US" dirty="0" smtClean="0"/>
              <a:t>A less complex alternative to map-reduce (also supported)</a:t>
            </a:r>
          </a:p>
          <a:p>
            <a:r>
              <a:rPr lang="en-US" dirty="0" err="1" smtClean="0"/>
              <a:t>FireDAC</a:t>
            </a:r>
            <a:r>
              <a:rPr lang="en-US" dirty="0" smtClean="0"/>
              <a:t> supports through the </a:t>
            </a:r>
            <a:r>
              <a:rPr lang="en-US" dirty="0" err="1" smtClean="0"/>
              <a:t>TFDMongoPipeline</a:t>
            </a:r>
            <a:r>
              <a:rPr lang="en-US" dirty="0" smtClean="0"/>
              <a:t> and Aggregate methods</a:t>
            </a:r>
          </a:p>
          <a:p>
            <a:r>
              <a:rPr lang="en-US" dirty="0" smtClean="0"/>
              <a:t>References </a:t>
            </a:r>
            <a:endParaRPr lang="en-US" dirty="0" smtClean="0">
              <a:hlinkClick r:id="rId3"/>
            </a:endParaRPr>
          </a:p>
          <a:p>
            <a:pPr lvl="1"/>
            <a:r>
              <a:rPr lang="en-US" dirty="0" smtClean="0">
                <a:hlinkClick r:id="rId3"/>
              </a:rPr>
              <a:t>http</a:t>
            </a:r>
            <a:r>
              <a:rPr lang="en-US" dirty="0">
                <a:hlinkClick r:id="rId3"/>
              </a:rPr>
              <a:t>://docs.mongodb.org/manual/aggregation</a:t>
            </a:r>
            <a:r>
              <a:rPr lang="en-US" dirty="0" smtClean="0">
                <a:hlinkClick r:id="rId3"/>
              </a:rPr>
              <a:t>/</a:t>
            </a:r>
            <a:endParaRPr lang="en-US" dirty="0" smtClean="0"/>
          </a:p>
          <a:p>
            <a:pPr lvl="1"/>
            <a:r>
              <a:rPr lang="en-US" dirty="0">
                <a:hlinkClick r:id="rId4"/>
              </a:rPr>
              <a:t>http://docs.mongodb.org/manual/reference/operator/aggregation</a:t>
            </a:r>
            <a:r>
              <a:rPr lang="en-US" dirty="0" smtClean="0">
                <a:hlinkClick r:id="rId4"/>
              </a:rPr>
              <a:t>/</a:t>
            </a:r>
            <a:r>
              <a:rPr lang="en-US" dirty="0" smtClean="0"/>
              <a:t> </a:t>
            </a:r>
          </a:p>
          <a:p>
            <a:pPr lvl="1"/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D86F-0E15-46C6-88AE-086E78885E3D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650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457200" y="1188794"/>
            <a:ext cx="4541808" cy="3268906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D86F-0E15-46C6-88AE-086E78885E3D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Aggregation Example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13"/>
          </p:nvPr>
        </p:nvSpPr>
        <p:spPr>
          <a:xfrm>
            <a:off x="5229225" y="1188720"/>
            <a:ext cx="3383684" cy="3358342"/>
          </a:xfrm>
        </p:spPr>
        <p:txBody>
          <a:bodyPr/>
          <a:lstStyle/>
          <a:p>
            <a:r>
              <a:rPr lang="en-US" dirty="0" smtClean="0"/>
              <a:t>Runs through stages</a:t>
            </a:r>
          </a:p>
          <a:p>
            <a:r>
              <a:rPr lang="en-US" dirty="0" smtClean="0"/>
              <a:t>Typically starts with a match</a:t>
            </a:r>
          </a:p>
          <a:p>
            <a:r>
              <a:rPr lang="en-US" dirty="0" smtClean="0"/>
              <a:t>Example shows grouping</a:t>
            </a:r>
          </a:p>
          <a:p>
            <a:r>
              <a:rPr lang="en-US" dirty="0" smtClean="0"/>
              <a:t>Resulting collection contains modified documents</a:t>
            </a:r>
          </a:p>
          <a:p>
            <a:r>
              <a:rPr lang="en-US" dirty="0" smtClean="0"/>
              <a:t>Makes documents easier to work with in program logic</a:t>
            </a:r>
          </a:p>
          <a:p>
            <a:r>
              <a:rPr lang="en-US" dirty="0" smtClean="0"/>
              <a:t>Underlying collection is unmodified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1017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Update Operations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Modifies </a:t>
            </a:r>
            <a:r>
              <a:rPr lang="en-US" dirty="0"/>
              <a:t>an existing document or documents in a </a:t>
            </a:r>
            <a:r>
              <a:rPr lang="en-US" dirty="0" smtClean="0"/>
              <a:t>collection.</a:t>
            </a:r>
          </a:p>
          <a:p>
            <a:r>
              <a:rPr lang="en-US" dirty="0"/>
              <a:t>C</a:t>
            </a:r>
            <a:r>
              <a:rPr lang="en-US" dirty="0" smtClean="0"/>
              <a:t>an </a:t>
            </a:r>
            <a:r>
              <a:rPr lang="en-US" dirty="0"/>
              <a:t>modify specific fields of an existing document or documents or replace an existing document </a:t>
            </a:r>
            <a:r>
              <a:rPr lang="en-US" dirty="0" smtClean="0"/>
              <a:t>entirely.</a:t>
            </a:r>
          </a:p>
          <a:p>
            <a:r>
              <a:rPr lang="en-US" dirty="0" smtClean="0"/>
              <a:t>Can replace with static or dynamic operator generated values.</a:t>
            </a:r>
          </a:p>
          <a:p>
            <a:r>
              <a:rPr lang="en-US" dirty="0" smtClean="0"/>
              <a:t>Updates are atomic within a single document.</a:t>
            </a:r>
          </a:p>
          <a:p>
            <a:r>
              <a:rPr lang="en-US" dirty="0" smtClean="0"/>
              <a:t>More information</a:t>
            </a:r>
          </a:p>
          <a:p>
            <a:pPr lvl="1"/>
            <a:r>
              <a:rPr lang="en-US" dirty="0">
                <a:hlinkClick r:id="rId3"/>
              </a:rPr>
              <a:t>http://docs.mongodb.org/manual/tutorial/modify-documents</a:t>
            </a:r>
            <a:r>
              <a:rPr lang="en-US" dirty="0" smtClean="0">
                <a:hlinkClick r:id="rId3"/>
              </a:rPr>
              <a:t>/</a:t>
            </a:r>
            <a:r>
              <a:rPr lang="en-US" dirty="0" smtClean="0"/>
              <a:t> </a:t>
            </a:r>
          </a:p>
          <a:p>
            <a:pPr lvl="1"/>
            <a:r>
              <a:rPr lang="en-US" dirty="0">
                <a:hlinkClick r:id="rId4"/>
              </a:rPr>
              <a:t>http://docs.mongodb.org/manual/reference/method/db.collection.update</a:t>
            </a:r>
            <a:r>
              <a:rPr lang="en-US" dirty="0" smtClean="0">
                <a:hlinkClick r:id="rId4"/>
              </a:rPr>
              <a:t>/</a:t>
            </a:r>
            <a:endParaRPr lang="en-US" dirty="0" smtClean="0"/>
          </a:p>
          <a:p>
            <a:pPr lvl="1"/>
            <a:r>
              <a:rPr lang="en-US" dirty="0">
                <a:hlinkClick r:id="rId5"/>
              </a:rPr>
              <a:t>http://docs.mongodb.org/manual/reference/operator/update/inc</a:t>
            </a:r>
            <a:r>
              <a:rPr lang="en-US" dirty="0" smtClean="0">
                <a:hlinkClick r:id="rId5"/>
              </a:rPr>
              <a:t>/</a:t>
            </a:r>
            <a:endParaRPr lang="en-US" dirty="0" smtClean="0"/>
          </a:p>
          <a:p>
            <a:pPr lvl="1"/>
            <a:r>
              <a:rPr lang="en-US" dirty="0">
                <a:hlinkClick r:id="rId6"/>
              </a:rPr>
              <a:t>http://docs.mongodb.org/manual/reference/operator/update/push</a:t>
            </a:r>
            <a:r>
              <a:rPr lang="en-US" dirty="0" smtClean="0">
                <a:hlinkClick r:id="rId6"/>
              </a:rPr>
              <a:t>/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D86F-0E15-46C6-88AE-086E78885E3D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838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Learning Resources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MongoDB</a:t>
            </a:r>
            <a:r>
              <a:rPr lang="en-US" dirty="0" smtClean="0"/>
              <a:t> Documentation</a:t>
            </a:r>
          </a:p>
          <a:p>
            <a:pPr lvl="1"/>
            <a:r>
              <a:rPr lang="en-US" sz="1400" dirty="0" smtClean="0">
                <a:hlinkClick r:id="rId3"/>
              </a:rPr>
              <a:t>docs.mongodb.org/manual/</a:t>
            </a:r>
            <a:endParaRPr lang="en-US" sz="1400" dirty="0" smtClean="0"/>
          </a:p>
          <a:p>
            <a:r>
              <a:rPr lang="en-US" dirty="0" err="1" smtClean="0"/>
              <a:t>MongoDB</a:t>
            </a:r>
            <a:r>
              <a:rPr lang="en-US" dirty="0" smtClean="0"/>
              <a:t> Skill Sprint</a:t>
            </a:r>
          </a:p>
          <a:p>
            <a:pPr lvl="1"/>
            <a:r>
              <a:rPr lang="en-US" sz="1400" dirty="0" smtClean="0">
                <a:hlinkClick r:id="rId4"/>
              </a:rPr>
              <a:t>embt.co/sprint-nosql-mongodb</a:t>
            </a:r>
            <a:endParaRPr lang="en-US" sz="1400" dirty="0" smtClean="0"/>
          </a:p>
          <a:p>
            <a:r>
              <a:rPr lang="en-US" dirty="0" smtClean="0"/>
              <a:t>Part 1 from </a:t>
            </a:r>
            <a:r>
              <a:rPr lang="en-US" dirty="0" err="1" smtClean="0"/>
              <a:t>CodeRage</a:t>
            </a:r>
            <a:r>
              <a:rPr lang="en-US" dirty="0" smtClean="0"/>
              <a:t> X</a:t>
            </a:r>
          </a:p>
          <a:p>
            <a:r>
              <a:rPr lang="en-US" dirty="0" err="1" smtClean="0"/>
              <a:t>DocWiki</a:t>
            </a:r>
            <a:endParaRPr lang="en-US" dirty="0" smtClean="0"/>
          </a:p>
          <a:p>
            <a:pPr lvl="1"/>
            <a:r>
              <a:rPr lang="en-US" sz="1100" dirty="0" smtClean="0">
                <a:hlinkClick r:id="rId5"/>
              </a:rPr>
              <a:t>docwiki.embarcadero.com/RADStudio/Seattle/en/What%27s_New#Support_for_the_NoSQL_MongoDB_Database</a:t>
            </a:r>
            <a:endParaRPr lang="en-US" sz="1100" dirty="0" smtClean="0"/>
          </a:p>
          <a:p>
            <a:pPr lvl="1"/>
            <a:r>
              <a:rPr lang="en-US" sz="1400" dirty="0" smtClean="0">
                <a:hlinkClick r:id="rId6"/>
              </a:rPr>
              <a:t>docwiki.embarcadero.com/RADStudio/Seattle/en/Connect_to_MongoDB_Database</a:t>
            </a:r>
            <a:r>
              <a:rPr lang="en-US" sz="1400" dirty="0">
                <a:hlinkClick r:id="rId6"/>
              </a:rPr>
              <a:t>_(FireDAC</a:t>
            </a:r>
            <a:r>
              <a:rPr lang="en-US" sz="1400" dirty="0" smtClean="0">
                <a:hlinkClick r:id="rId6"/>
              </a:rPr>
              <a:t>)</a:t>
            </a:r>
            <a:endParaRPr lang="en-US" sz="1400" dirty="0" smtClean="0"/>
          </a:p>
          <a:p>
            <a:pPr lvl="1"/>
            <a:r>
              <a:rPr lang="en-US" sz="1400" dirty="0" smtClean="0">
                <a:hlinkClick r:id="rId7"/>
              </a:rPr>
              <a:t>docwiki.embarcadero.com/CodeExamples/Seattle/en/FireDAC.MongoDB_Explore_Sample</a:t>
            </a:r>
            <a:endParaRPr lang="en-US" sz="1400" dirty="0" smtClean="0"/>
          </a:p>
          <a:p>
            <a:pPr lvl="1"/>
            <a:r>
              <a:rPr lang="en-US" sz="1400" dirty="0" smtClean="0">
                <a:hlinkClick r:id="rId8"/>
              </a:rPr>
              <a:t>docwiki.embarcadero.com/Libraries/Seattle/en/FireDAC.Phys.MongoDBWrapper</a:t>
            </a:r>
            <a:endParaRPr lang="en-US" sz="1400" dirty="0" smtClean="0"/>
          </a:p>
          <a:p>
            <a:r>
              <a:rPr lang="en-US" dirty="0" smtClean="0"/>
              <a:t>Samples</a:t>
            </a:r>
          </a:p>
          <a:p>
            <a:pPr lvl="1"/>
            <a:r>
              <a:rPr lang="en-US" sz="1200" dirty="0"/>
              <a:t>\Samples\Object Pascal\Database\</a:t>
            </a:r>
            <a:r>
              <a:rPr lang="en-US" sz="1200" dirty="0" err="1"/>
              <a:t>FireDAC</a:t>
            </a:r>
            <a:r>
              <a:rPr lang="en-US" sz="1200" dirty="0"/>
              <a:t>\Samples\DBMS </a:t>
            </a:r>
            <a:r>
              <a:rPr lang="en-US" sz="1200" dirty="0" smtClean="0"/>
              <a:t>Specific\</a:t>
            </a:r>
            <a:r>
              <a:rPr lang="en-US" sz="1200" dirty="0" err="1" smtClean="0"/>
              <a:t>MongoDB</a:t>
            </a:r>
            <a:r>
              <a:rPr lang="en-US" sz="1200" dirty="0" smtClean="0"/>
              <a:t> </a:t>
            </a:r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D86F-0E15-46C6-88AE-086E78885E3D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769469" y="1040130"/>
            <a:ext cx="1881925" cy="14157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Code Samples </a:t>
            </a:r>
            <a:endParaRPr lang="en-US" dirty="0" smtClean="0"/>
          </a:p>
          <a:p>
            <a:pPr algn="ctr"/>
            <a:r>
              <a:rPr lang="en-US" sz="1600" dirty="0" smtClean="0">
                <a:hlinkClick r:id="rId9"/>
              </a:rPr>
              <a:t>delphi.org</a:t>
            </a:r>
            <a:r>
              <a:rPr lang="en-US" sz="1600" dirty="0">
                <a:hlinkClick r:id="rId9"/>
              </a:rPr>
              <a:t>/?</a:t>
            </a:r>
            <a:r>
              <a:rPr lang="en-US" sz="1600" dirty="0" smtClean="0">
                <a:hlinkClick r:id="rId9"/>
              </a:rPr>
              <a:t>p=2053</a:t>
            </a:r>
            <a:r>
              <a:rPr lang="en-US" sz="1600" dirty="0" smtClean="0"/>
              <a:t> </a:t>
            </a:r>
          </a:p>
          <a:p>
            <a:pPr algn="ctr"/>
            <a:endParaRPr lang="en-US" dirty="0" smtClean="0"/>
          </a:p>
          <a:p>
            <a:pPr algn="ctr"/>
            <a:r>
              <a:rPr lang="en-US" dirty="0" smtClean="0"/>
              <a:t>Slides</a:t>
            </a:r>
            <a:endParaRPr lang="en-US" sz="1600" dirty="0" smtClean="0"/>
          </a:p>
          <a:p>
            <a:pPr algn="ctr"/>
            <a:r>
              <a:rPr lang="en-US" sz="1600" dirty="0" err="1" smtClean="0">
                <a:hlinkClick r:id="rId10"/>
              </a:rPr>
              <a:t>delphi.org</a:t>
            </a:r>
            <a:r>
              <a:rPr lang="en-US" sz="1600" dirty="0" smtClean="0">
                <a:hlinkClick r:id="rId10"/>
              </a:rPr>
              <a:t>/</a:t>
            </a:r>
            <a:r>
              <a:rPr lang="en-US" sz="1600" dirty="0" err="1" smtClean="0">
                <a:hlinkClick r:id="rId10"/>
              </a:rPr>
              <a:t>coderage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121554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Q&amp;A – Thanks for Joining Us!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The </a:t>
            </a:r>
            <a:r>
              <a:rPr lang="en-US" dirty="0"/>
              <a:t>places to communicate:</a:t>
            </a:r>
          </a:p>
          <a:p>
            <a:r>
              <a:rPr lang="en-US" dirty="0" smtClean="0">
                <a:hlinkClick r:id="rId3"/>
              </a:rPr>
              <a:t>Quality.Embarcadero.com</a:t>
            </a:r>
            <a:endParaRPr lang="en-US" dirty="0"/>
          </a:p>
          <a:p>
            <a:r>
              <a:rPr lang="en-US" dirty="0"/>
              <a:t>Embarcadero </a:t>
            </a:r>
            <a:r>
              <a:rPr lang="en-US" dirty="0" err="1"/>
              <a:t>FireDAC</a:t>
            </a:r>
            <a:r>
              <a:rPr lang="en-US" dirty="0"/>
              <a:t> forum</a:t>
            </a:r>
          </a:p>
          <a:p>
            <a:pPr lvl="1"/>
            <a:r>
              <a:rPr lang="en-US" dirty="0">
                <a:hlinkClick r:id="rId4"/>
              </a:rPr>
              <a:t>https://forums.embarcadero.com/forum.jspa?forumID=502</a:t>
            </a:r>
            <a:r>
              <a:rPr lang="en-US" dirty="0"/>
              <a:t> </a:t>
            </a:r>
          </a:p>
          <a:p>
            <a:r>
              <a:rPr lang="en-US" dirty="0"/>
              <a:t>Email</a:t>
            </a:r>
          </a:p>
          <a:p>
            <a:pPr lvl="1"/>
            <a:r>
              <a:rPr lang="en-US" dirty="0">
                <a:hlinkClick r:id="rId5"/>
              </a:rPr>
              <a:t>dmitry.arefiev@embarcadero.com</a:t>
            </a:r>
            <a:r>
              <a:rPr lang="en-US" dirty="0"/>
              <a:t> &amp; </a:t>
            </a:r>
            <a:r>
              <a:rPr lang="en-US" dirty="0">
                <a:hlinkClick r:id="rId6"/>
              </a:rPr>
              <a:t>jim.mckeeth@embarcadero.com</a:t>
            </a:r>
            <a:r>
              <a:rPr lang="en-US" dirty="0"/>
              <a:t> </a:t>
            </a:r>
          </a:p>
          <a:p>
            <a:r>
              <a:rPr lang="en-US" dirty="0"/>
              <a:t>Code Samples </a:t>
            </a:r>
          </a:p>
          <a:p>
            <a:pPr lvl="1"/>
            <a:r>
              <a:rPr lang="en-US" dirty="0">
                <a:hlinkClick r:id="rId7"/>
              </a:rPr>
              <a:t>delphi.org/?p=2053</a:t>
            </a:r>
            <a:r>
              <a:rPr lang="en-US" dirty="0"/>
              <a:t> </a:t>
            </a:r>
          </a:p>
          <a:p>
            <a:r>
              <a:rPr lang="en-US" dirty="0"/>
              <a:t>Slides</a:t>
            </a:r>
          </a:p>
          <a:p>
            <a:pPr lvl="1"/>
            <a:r>
              <a:rPr lang="en-US" dirty="0">
                <a:hlinkClick r:id="rId8"/>
              </a:rPr>
              <a:t>delphi.org/coderage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D86F-0E15-46C6-88AE-086E78885E3D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686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EMBT Sales Meeting Template 2012_v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E0DEC3B9574B6409DD98AC7B6A94797" ma:contentTypeVersion="14" ma:contentTypeDescription="Create a new document." ma:contentTypeScope="" ma:versionID="d6544c7279bfc4708c848899dcaa8fdb">
  <xsd:schema xmlns:xsd="http://www.w3.org/2001/XMLSchema" xmlns:xs="http://www.w3.org/2001/XMLSchema" xmlns:p="http://schemas.microsoft.com/office/2006/metadata/properties" xmlns:ns2="f62b9ad8-a28f-4257-b39c-24ee014a67bd" targetNamespace="http://schemas.microsoft.com/office/2006/metadata/properties" ma:root="true" ma:fieldsID="c13e37bd38289dfcccadeff979405649" ns2:_="">
    <xsd:import namespace="f62b9ad8-a28f-4257-b39c-24ee014a67bd"/>
    <xsd:element name="properties">
      <xsd:complexType>
        <xsd:sequence>
          <xsd:element name="documentManagement">
            <xsd:complexType>
              <xsd:all>
                <xsd:element ref="ns2:Family" minOccurs="0"/>
                <xsd:element ref="ns2:Product" minOccurs="0"/>
                <xsd:element ref="ns2:Release" minOccurs="0"/>
                <xsd:element ref="ns2:Doc_x0020_Type" minOccurs="0"/>
                <xsd:element ref="ns2:Year" minOccurs="0"/>
                <xsd:element ref="ns2:SharedWithUsers" minOccurs="0"/>
                <xsd:element ref="ns2:SharingHintHash" minOccurs="0"/>
                <xsd:element ref="ns2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2b9ad8-a28f-4257-b39c-24ee014a67bd" elementFormDefault="qualified">
    <xsd:import namespace="http://schemas.microsoft.com/office/2006/documentManagement/types"/>
    <xsd:import namespace="http://schemas.microsoft.com/office/infopath/2007/PartnerControls"/>
    <xsd:element name="Family" ma:index="2" nillable="true" ma:displayName="Family" ma:description="Product family" ma:format="Dropdown" ma:internalName="Family">
      <xsd:simpleType>
        <xsd:union memberTypes="dms:Text">
          <xsd:simpleType>
            <xsd:restriction base="dms:Choice">
              <xsd:enumeration value="DB"/>
              <xsd:enumeration value="Dev Tools"/>
              <xsd:enumeration value="EMBT"/>
              <xsd:enumeration value="ER"/>
            </xsd:restriction>
          </xsd:simpleType>
        </xsd:union>
      </xsd:simpleType>
    </xsd:element>
    <xsd:element name="Product" ma:index="3" nillable="true" ma:displayName="Product" ma:description="Specific product" ma:format="Dropdown" ma:internalName="Product">
      <xsd:simpleType>
        <xsd:union memberTypes="dms:Text">
          <xsd:simpleType>
            <xsd:restriction base="dms:Choice">
              <xsd:enumeration value="Appmethod"/>
              <xsd:enumeration value="Business Architect"/>
              <xsd:enumeration value="C++Builder"/>
              <xsd:enumeration value="CONNECT"/>
              <xsd:enumeration value="Data Lineage"/>
              <xsd:enumeration value="DB Change Manager"/>
              <xsd:enumeration value="DB Optimizer"/>
              <xsd:enumeration value="DBArtisan"/>
              <xsd:enumeration value="DBArtisan Team Server"/>
              <xsd:enumeration value="DBPS"/>
              <xsd:enumeration value="Delphi"/>
              <xsd:enumeration value="ER/Studio"/>
              <xsd:enumeration value="ER/Studio Data Architect"/>
              <xsd:enumeration value="ER/Studio Team Server"/>
              <xsd:enumeration value="FireDAC"/>
              <xsd:enumeration value="FireMonkey"/>
              <xsd:enumeration value="HTML5 Builder"/>
              <xsd:enumeration value="InterBase"/>
              <xsd:enumeration value="MetaWizard"/>
              <xsd:enumeration value="Portal"/>
              <xsd:enumeration value="RAD Studio"/>
              <xsd:enumeration value="Rapid SQL"/>
              <xsd:enumeration value="Repository"/>
              <xsd:enumeration value="Software Architect"/>
              <xsd:enumeration value="UDM"/>
              <xsd:enumeration value="Viewer"/>
            </xsd:restriction>
          </xsd:simpleType>
        </xsd:union>
      </xsd:simpleType>
    </xsd:element>
    <xsd:element name="Release" ma:index="4" nillable="true" ma:displayName="Release" ma:description="Release number" ma:format="Dropdown" ma:internalName="Release">
      <xsd:simpleType>
        <xsd:union memberTypes="dms:Text">
          <xsd:simpleType>
            <xsd:restriction base="dms:Choice">
              <xsd:enumeration value="1.0"/>
              <xsd:enumeration value="1.14"/>
              <xsd:enumeration value="1.15"/>
              <xsd:enumeration value="XE9"/>
              <xsd:enumeration value="XE8"/>
              <xsd:enumeration value="XE7"/>
              <xsd:enumeration value="XE6"/>
              <xsd:enumeration value="XE5"/>
              <xsd:enumeration value="XE4"/>
              <xsd:enumeration value="XE3.5"/>
              <xsd:enumeration value="XE3"/>
              <xsd:enumeration value="XE2"/>
            </xsd:restriction>
          </xsd:simpleType>
        </xsd:union>
      </xsd:simpleType>
    </xsd:element>
    <xsd:element name="Doc_x0020_Type" ma:index="5" nillable="true" ma:displayName="Doc Type" ma:description="Type of document / item" ma:format="Dropdown" ma:internalName="Doc_x0020_Type">
      <xsd:simpleType>
        <xsd:union memberTypes="dms:Text">
          <xsd:simpleType>
            <xsd:restriction base="dms:Choice">
              <xsd:enumeration value="Ad"/>
              <xsd:enumeration value="Article"/>
              <xsd:enumeration value="Banner"/>
              <xsd:enumeration value="Budget"/>
              <xsd:enumeration value="Calendar"/>
              <xsd:enumeration value="Campaign"/>
              <xsd:enumeration value="Case Study"/>
              <xsd:enumeration value="Cheatsheet"/>
              <xsd:enumeration value="Datasheet"/>
              <xsd:enumeration value="eDM"/>
              <xsd:enumeration value="Feature Matrix"/>
              <xsd:enumeration value="Font"/>
              <xsd:enumeration value="Headshot"/>
              <xsd:enumeration value="icon"/>
              <xsd:enumeration value="Image"/>
              <xsd:enumeration value="Messaging"/>
              <xsd:enumeration value="Presentation"/>
              <xsd:enumeration value="Press Release"/>
              <xsd:enumeration value="Pricing, SKUs, Licensing"/>
              <xsd:enumeration value="Process / Guide"/>
              <xsd:enumeration value="Product graphic"/>
              <xsd:enumeration value="Screenshot"/>
              <xsd:enumeration value="Video"/>
              <xsd:enumeration value="Web page"/>
              <xsd:enumeration value="Webinar"/>
              <xsd:enumeration value="Whitepaper"/>
            </xsd:restriction>
          </xsd:simpleType>
        </xsd:union>
      </xsd:simpleType>
    </xsd:element>
    <xsd:element name="Year" ma:index="6" nillable="true" ma:displayName="Year" ma:default="2015" ma:description="Year associated with item" ma:format="Dropdown" ma:internalName="Year">
      <xsd:simpleType>
        <xsd:union memberTypes="dms:Text">
          <xsd:simpleType>
            <xsd:restriction base="dms:Choice">
              <xsd:enumeration value="2015"/>
              <xsd:enumeration value="2014"/>
              <xsd:enumeration value="2013"/>
              <xsd:enumeration value="2012"/>
            </xsd:restriction>
          </xsd:simpleType>
        </xsd:union>
      </xsd:simpleType>
    </xsd:element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ingHintHash" ma:index="14" nillable="true" ma:displayName="Sharing Hint Hash" ma:internalName="SharingHintHash" ma:readOnly="true">
      <xsd:simpleType>
        <xsd:restriction base="dms:Text"/>
      </xsd:simple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9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Year xmlns="f62b9ad8-a28f-4257-b39c-24ee014a67bd">2014</Year>
    <Product xmlns="f62b9ad8-a28f-4257-b39c-24ee014a67bd" xsi:nil="true"/>
    <Release xmlns="f62b9ad8-a28f-4257-b39c-24ee014a67bd" xsi:nil="true"/>
    <Family xmlns="f62b9ad8-a28f-4257-b39c-24ee014a67bd" xsi:nil="true"/>
    <Doc_x0020_Type xmlns="f62b9ad8-a28f-4257-b39c-24ee014a67bd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B7D757E-6E9F-438F-91D0-6F9430C407B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62b9ad8-a28f-4257-b39c-24ee014a67b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2FDF740-02CD-4136-B2DA-BE81CB99FB50}">
  <ds:schemaRefs>
    <ds:schemaRef ds:uri="http://schemas.microsoft.com/office/2006/metadata/properties"/>
    <ds:schemaRef ds:uri="http://schemas.microsoft.com/office/infopath/2007/PartnerControls"/>
    <ds:schemaRef ds:uri="f62b9ad8-a28f-4257-b39c-24ee014a67bd"/>
  </ds:schemaRefs>
</ds:datastoreItem>
</file>

<file path=customXml/itemProps3.xml><?xml version="1.0" encoding="utf-8"?>
<ds:datastoreItem xmlns:ds="http://schemas.openxmlformats.org/officeDocument/2006/customXml" ds:itemID="{DF969D3E-2A43-4875-BB4D-F53FBF85724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2468</TotalTime>
  <Words>401</Words>
  <Application>Microsoft Macintosh PowerPoint</Application>
  <PresentationFormat>On-screen Show (16:9)</PresentationFormat>
  <Paragraphs>127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Calibri</vt:lpstr>
      <vt:lpstr>Consolas</vt:lpstr>
      <vt:lpstr>Segoe</vt:lpstr>
      <vt:lpstr>Arial</vt:lpstr>
      <vt:lpstr>EMBT Sales Meeting Template 2012_v1</vt:lpstr>
      <vt:lpstr>Advanced MongoDB &amp; FireDAC</vt:lpstr>
      <vt:lpstr>Agenda – The Fun Stuff</vt:lpstr>
      <vt:lpstr>Indexing</vt:lpstr>
      <vt:lpstr>Geospatial Indexes and Queries</vt:lpstr>
      <vt:lpstr>Aggregation Pipeline</vt:lpstr>
      <vt:lpstr>Aggregation Example</vt:lpstr>
      <vt:lpstr>Update Operations</vt:lpstr>
      <vt:lpstr>Learning Resources</vt:lpstr>
      <vt:lpstr>Q&amp;A – Thanks for Joining Us!</vt:lpstr>
    </vt:vector>
  </TitlesOfParts>
  <Company>Embarcadero Technologies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RAD STUDIO IN THE ENTERPRISE</dc:title>
  <dc:creator>Michael Fox</dc:creator>
  <cp:lastModifiedBy>Jim McKeeth</cp:lastModifiedBy>
  <cp:revision>115</cp:revision>
  <dcterms:created xsi:type="dcterms:W3CDTF">2013-03-13T15:15:14Z</dcterms:created>
  <dcterms:modified xsi:type="dcterms:W3CDTF">2015-10-10T00:56:14Z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0x0101007E0DEC3B9574B6409DD98AC7B6A94797</vt:lpwstr>
  </property>
</Properties>
</file>